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GB"/>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81BEF819-71A3-4000-A5B0-ACC738DE6FC2}" type="datetimeFigureOut">
              <a:rPr lang="en-GB" smtClean="0"/>
              <a:t>22/04/2026</a:t>
            </a:fld>
            <a:endParaRPr lang="en-GB"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7871681B-F1AB-431D-9548-BBA8B9315C8D}" type="slidenum">
              <a:rPr lang="en-GB" smtClean="0"/>
              <a:t>‹#›</a:t>
            </a:fld>
            <a:endParaRPr lang="en-GB"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Tree>
    <p:extLst>
      <p:ext uri="{BB962C8B-B14F-4D97-AF65-F5344CB8AC3E}">
        <p14:creationId xmlns:p14="http://schemas.microsoft.com/office/powerpoint/2010/main" val="364306325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483124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GB"/>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871681B-F1AB-431D-9548-BBA8B9315C8D}" type="slidenum">
              <a:rPr lang="en-GB" smtClean="0"/>
              <a:t>‹#›</a:t>
            </a:fld>
            <a:endParaRPr lang="en-GB"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527608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2582804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GB"/>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3933379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2377900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363016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201175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dirty="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868915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854744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81BEF819-71A3-4000-A5B0-ACC738DE6FC2}" type="datetimeFigureOut">
              <a:rPr lang="en-GB" smtClean="0"/>
              <a:t>22/04/2026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7871681B-F1AB-431D-9548-BBA8B9315C8D}" type="slidenum">
              <a:rPr lang="en-GB" smtClean="0"/>
              <a:t>‹#›</a:t>
            </a:fld>
            <a:endParaRPr lang="en-GB" dirty="0"/>
          </a:p>
        </p:txBody>
      </p:sp>
    </p:spTree>
    <p:extLst>
      <p:ext uri="{BB962C8B-B14F-4D97-AF65-F5344CB8AC3E}">
        <p14:creationId xmlns:p14="http://schemas.microsoft.com/office/powerpoint/2010/main" val="18651154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dirty="0"/>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81BEF819-71A3-4000-A5B0-ACC738DE6FC2}" type="datetimeFigureOut">
              <a:rPr lang="en-GB" smtClean="0"/>
              <a:t>22/04/2026</a:t>
            </a:fld>
            <a:endParaRPr lang="en-GB"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7871681B-F1AB-431D-9548-BBA8B9315C8D}" type="slidenum">
              <a:rPr lang="en-GB" smtClean="0"/>
              <a:t>‹#›</a:t>
            </a:fld>
            <a:endParaRPr lang="en-GB" dirty="0"/>
          </a:p>
        </p:txBody>
      </p:sp>
    </p:spTree>
    <p:extLst>
      <p:ext uri="{BB962C8B-B14F-4D97-AF65-F5344CB8AC3E}">
        <p14:creationId xmlns:p14="http://schemas.microsoft.com/office/powerpoint/2010/main" val="4266238107"/>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F152-EBAF-2326-B809-C9F87953A1DE}"/>
              </a:ext>
            </a:extLst>
          </p:cNvPr>
          <p:cNvSpPr>
            <a:spLocks noGrp="1"/>
          </p:cNvSpPr>
          <p:nvPr>
            <p:ph type="ctrTitle"/>
          </p:nvPr>
        </p:nvSpPr>
        <p:spPr/>
        <p:txBody>
          <a:bodyPr>
            <a:normAutofit/>
          </a:bodyPr>
          <a:lstStyle/>
          <a:p>
            <a:r>
              <a:rPr lang="en-GB" b="1" dirty="0"/>
              <a:t>Beach Cleaners – Ards &amp; North Down </a:t>
            </a:r>
            <a:br>
              <a:rPr lang="en-GB" b="1" dirty="0"/>
            </a:br>
            <a:endParaRPr lang="en-GB" dirty="0"/>
          </a:p>
        </p:txBody>
      </p:sp>
      <p:sp>
        <p:nvSpPr>
          <p:cNvPr id="3" name="Subtitle 2">
            <a:extLst>
              <a:ext uri="{FF2B5EF4-FFF2-40B4-BE49-F238E27FC236}">
                <a16:creationId xmlns:a16="http://schemas.microsoft.com/office/drawing/2014/main" id="{64733FA2-4492-30DD-04D6-AB453F249D73}"/>
              </a:ext>
            </a:extLst>
          </p:cNvPr>
          <p:cNvSpPr>
            <a:spLocks noGrp="1"/>
          </p:cNvSpPr>
          <p:nvPr>
            <p:ph type="subTitle" idx="1"/>
          </p:nvPr>
        </p:nvSpPr>
        <p:spPr/>
        <p:txBody>
          <a:bodyPr>
            <a:normAutofit/>
          </a:bodyPr>
          <a:lstStyle/>
          <a:p>
            <a:r>
              <a:rPr lang="en-GB" dirty="0"/>
              <a:t>Individual Quick Reference Guide for Web Elements</a:t>
            </a:r>
          </a:p>
          <a:p>
            <a:endParaRPr lang="en-GB" dirty="0"/>
          </a:p>
          <a:p>
            <a:r>
              <a:rPr lang="en-GB" dirty="0"/>
              <a:t>CSC1034 Group Project – Student: 40481826</a:t>
            </a:r>
          </a:p>
        </p:txBody>
      </p:sp>
    </p:spTree>
    <p:extLst>
      <p:ext uri="{BB962C8B-B14F-4D97-AF65-F5344CB8AC3E}">
        <p14:creationId xmlns:p14="http://schemas.microsoft.com/office/powerpoint/2010/main" val="1380381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931A0-B2E4-7A69-5E2D-C3090E142BA2}"/>
              </a:ext>
            </a:extLst>
          </p:cNvPr>
          <p:cNvSpPr>
            <a:spLocks noGrp="1"/>
          </p:cNvSpPr>
          <p:nvPr>
            <p:ph type="title"/>
          </p:nvPr>
        </p:nvSpPr>
        <p:spPr>
          <a:xfrm>
            <a:off x="839787" y="1359105"/>
            <a:ext cx="3706889" cy="522331"/>
          </a:xfrm>
        </p:spPr>
        <p:txBody>
          <a:bodyPr>
            <a:normAutofit fontScale="90000"/>
          </a:bodyPr>
          <a:lstStyle/>
          <a:p>
            <a:r>
              <a:rPr lang="en-GB" dirty="0"/>
              <a:t>Client-Side Validation</a:t>
            </a:r>
          </a:p>
        </p:txBody>
      </p:sp>
      <p:pic>
        <p:nvPicPr>
          <p:cNvPr id="6" name="Content Placeholder 5">
            <a:extLst>
              <a:ext uri="{FF2B5EF4-FFF2-40B4-BE49-F238E27FC236}">
                <a16:creationId xmlns:a16="http://schemas.microsoft.com/office/drawing/2014/main" id="{E392429F-E590-2710-A501-E97EDAA46CFA}"/>
              </a:ext>
            </a:extLst>
          </p:cNvPr>
          <p:cNvPicPr>
            <a:picLocks noGrp="1" noChangeAspect="1"/>
          </p:cNvPicPr>
          <p:nvPr>
            <p:ph idx="1"/>
          </p:nvPr>
        </p:nvPicPr>
        <p:blipFill>
          <a:blip r:embed="rId2"/>
          <a:stretch>
            <a:fillRect/>
          </a:stretch>
        </p:blipFill>
        <p:spPr>
          <a:xfrm>
            <a:off x="4982391" y="685800"/>
            <a:ext cx="5929067" cy="5486400"/>
          </a:xfrm>
          <a:prstGeom prst="rect">
            <a:avLst/>
          </a:prstGeom>
          <a:ln w="25400">
            <a:solidFill>
              <a:schemeClr val="tx1"/>
            </a:solidFill>
          </a:ln>
        </p:spPr>
      </p:pic>
      <p:sp>
        <p:nvSpPr>
          <p:cNvPr id="4" name="Text Placeholder 3">
            <a:extLst>
              <a:ext uri="{FF2B5EF4-FFF2-40B4-BE49-F238E27FC236}">
                <a16:creationId xmlns:a16="http://schemas.microsoft.com/office/drawing/2014/main" id="{058E3178-5474-4E8D-0E30-441CB495DB57}"/>
              </a:ext>
            </a:extLst>
          </p:cNvPr>
          <p:cNvSpPr>
            <a:spLocks noGrp="1"/>
          </p:cNvSpPr>
          <p:nvPr>
            <p:ph type="body" sz="half" idx="2"/>
          </p:nvPr>
        </p:nvSpPr>
        <p:spPr>
          <a:xfrm>
            <a:off x="839787" y="2124941"/>
            <a:ext cx="3932237" cy="1951892"/>
          </a:xfrm>
        </p:spPr>
        <p:txBody>
          <a:bodyPr>
            <a:normAutofit/>
          </a:bodyPr>
          <a:lstStyle/>
          <a:p>
            <a:r>
              <a:rPr lang="en-GB" b="1" dirty="0"/>
              <a:t>Feature: Validation Error</a:t>
            </a:r>
          </a:p>
          <a:p>
            <a:r>
              <a:rPr lang="en-GB" dirty="0"/>
              <a:t>When the client attempts to add a new Beach record with no name an error message displays in red saying, “Beach name is required.” This is the same for all other records within the Beach and Bag tables.</a:t>
            </a:r>
          </a:p>
        </p:txBody>
      </p:sp>
      <p:sp>
        <p:nvSpPr>
          <p:cNvPr id="8" name="Text Placeholder 3">
            <a:extLst>
              <a:ext uri="{FF2B5EF4-FFF2-40B4-BE49-F238E27FC236}">
                <a16:creationId xmlns:a16="http://schemas.microsoft.com/office/drawing/2014/main" id="{F8F33037-8FA6-A319-E367-D387C8831B60}"/>
              </a:ext>
            </a:extLst>
          </p:cNvPr>
          <p:cNvSpPr txBox="1">
            <a:spLocks/>
          </p:cNvSpPr>
          <p:nvPr/>
        </p:nvSpPr>
        <p:spPr>
          <a:xfrm>
            <a:off x="839787" y="4076833"/>
            <a:ext cx="3932237" cy="1527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r>
              <a:rPr lang="en-GB" sz="1300" b="1" dirty="0"/>
              <a:t>File: addBeach.html</a:t>
            </a:r>
          </a:p>
          <a:p>
            <a:r>
              <a:rPr lang="en-GB" sz="1300" dirty="0"/>
              <a:t>Uses validateBeach() in js/script.js to ensure the new record added aligns with the database and its NOT NULL constraints.</a:t>
            </a:r>
          </a:p>
        </p:txBody>
      </p:sp>
    </p:spTree>
    <p:extLst>
      <p:ext uri="{BB962C8B-B14F-4D97-AF65-F5344CB8AC3E}">
        <p14:creationId xmlns:p14="http://schemas.microsoft.com/office/powerpoint/2010/main" val="3314840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39827-C23C-874F-0A4C-65F4B85803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62EC69-34E7-F284-E09E-37E94337E17D}"/>
              </a:ext>
            </a:extLst>
          </p:cNvPr>
          <p:cNvSpPr>
            <a:spLocks noGrp="1"/>
          </p:cNvSpPr>
          <p:nvPr>
            <p:ph type="title"/>
          </p:nvPr>
        </p:nvSpPr>
        <p:spPr>
          <a:xfrm>
            <a:off x="839787" y="1359105"/>
            <a:ext cx="3706889" cy="522331"/>
          </a:xfrm>
        </p:spPr>
        <p:txBody>
          <a:bodyPr>
            <a:normAutofit fontScale="90000"/>
          </a:bodyPr>
          <a:lstStyle/>
          <a:p>
            <a:r>
              <a:rPr lang="en-GB" dirty="0"/>
              <a:t>User Feedback</a:t>
            </a:r>
          </a:p>
        </p:txBody>
      </p:sp>
      <p:sp>
        <p:nvSpPr>
          <p:cNvPr id="4" name="Text Placeholder 3">
            <a:extLst>
              <a:ext uri="{FF2B5EF4-FFF2-40B4-BE49-F238E27FC236}">
                <a16:creationId xmlns:a16="http://schemas.microsoft.com/office/drawing/2014/main" id="{6B6FDA26-C768-EDA1-A1A3-55C74136C484}"/>
              </a:ext>
            </a:extLst>
          </p:cNvPr>
          <p:cNvSpPr>
            <a:spLocks noGrp="1"/>
          </p:cNvSpPr>
          <p:nvPr>
            <p:ph type="body" sz="half" idx="2"/>
          </p:nvPr>
        </p:nvSpPr>
        <p:spPr>
          <a:xfrm>
            <a:off x="839787" y="2124941"/>
            <a:ext cx="3932237" cy="1951892"/>
          </a:xfrm>
        </p:spPr>
        <p:txBody>
          <a:bodyPr>
            <a:normAutofit/>
          </a:bodyPr>
          <a:lstStyle/>
          <a:p>
            <a:r>
              <a:rPr lang="en-GB" b="1" dirty="0"/>
              <a:t>Feature: Success Feedback</a:t>
            </a:r>
          </a:p>
          <a:p>
            <a:r>
              <a:rPr lang="en-GB" dirty="0"/>
              <a:t>After a new Beach Record has been inserted into the database a message displays in green saying, “ Beach record added successfully.” The same happens when adding a new Bag Record.</a:t>
            </a:r>
          </a:p>
        </p:txBody>
      </p:sp>
      <p:sp>
        <p:nvSpPr>
          <p:cNvPr id="8" name="Text Placeholder 3">
            <a:extLst>
              <a:ext uri="{FF2B5EF4-FFF2-40B4-BE49-F238E27FC236}">
                <a16:creationId xmlns:a16="http://schemas.microsoft.com/office/drawing/2014/main" id="{F5FDE716-14BF-C4FA-D645-BF1F16BDADDC}"/>
              </a:ext>
            </a:extLst>
          </p:cNvPr>
          <p:cNvSpPr txBox="1">
            <a:spLocks/>
          </p:cNvSpPr>
          <p:nvPr/>
        </p:nvSpPr>
        <p:spPr>
          <a:xfrm>
            <a:off x="839787" y="4076833"/>
            <a:ext cx="3932237" cy="1527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1" i="0" u="none" strike="noStrike" kern="1200" cap="none" spc="0" normalizeH="0" baseline="0" noProof="0" dirty="0">
                <a:ln>
                  <a:noFill/>
                </a:ln>
                <a:solidFill>
                  <a:srgbClr val="000000"/>
                </a:solidFill>
                <a:effectLst/>
                <a:uLnTx/>
                <a:uFillTx/>
                <a:latin typeface="Century Schoolbook" panose="02040604050505020304"/>
                <a:ea typeface="+mn-ea"/>
                <a:cs typeface="+mn-cs"/>
              </a:rPr>
              <a:t>File: addBeach.html</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0" i="0" u="none" strike="noStrike" kern="1200" cap="none" spc="0" normalizeH="0" baseline="0" noProof="0" dirty="0">
                <a:ln>
                  <a:noFill/>
                </a:ln>
                <a:solidFill>
                  <a:srgbClr val="000000"/>
                </a:solidFill>
                <a:effectLst/>
                <a:uLnTx/>
                <a:uFillTx/>
                <a:latin typeface="Century Schoolbook" panose="02040604050505020304"/>
                <a:ea typeface="+mn-ea"/>
                <a:cs typeface="+mn-cs"/>
              </a:rPr>
              <a:t>Uses showMessage() to output the success message when a record that meets all the validation is input.</a:t>
            </a:r>
          </a:p>
        </p:txBody>
      </p:sp>
      <p:pic>
        <p:nvPicPr>
          <p:cNvPr id="13" name="Content Placeholder 12">
            <a:extLst>
              <a:ext uri="{FF2B5EF4-FFF2-40B4-BE49-F238E27FC236}">
                <a16:creationId xmlns:a16="http://schemas.microsoft.com/office/drawing/2014/main" id="{466399BF-95FC-EC91-111C-00175E6A0922}"/>
              </a:ext>
            </a:extLst>
          </p:cNvPr>
          <p:cNvPicPr>
            <a:picLocks noGrp="1" noChangeAspect="1"/>
          </p:cNvPicPr>
          <p:nvPr>
            <p:ph idx="1"/>
          </p:nvPr>
        </p:nvPicPr>
        <p:blipFill>
          <a:blip r:embed="rId2"/>
          <a:stretch>
            <a:fillRect/>
          </a:stretch>
        </p:blipFill>
        <p:spPr>
          <a:xfrm>
            <a:off x="4700256" y="685800"/>
            <a:ext cx="6060715" cy="5486400"/>
          </a:xfrm>
          <a:prstGeom prst="rect">
            <a:avLst/>
          </a:prstGeom>
          <a:ln w="25400">
            <a:solidFill>
              <a:schemeClr val="tx1"/>
            </a:solidFill>
          </a:ln>
        </p:spPr>
      </p:pic>
    </p:spTree>
    <p:extLst>
      <p:ext uri="{BB962C8B-B14F-4D97-AF65-F5344CB8AC3E}">
        <p14:creationId xmlns:p14="http://schemas.microsoft.com/office/powerpoint/2010/main" val="14245656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7B1CA-04BE-52D9-1B12-4F216E9BE1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A7A3A-580F-DBB7-6AFE-DBC198F9B137}"/>
              </a:ext>
            </a:extLst>
          </p:cNvPr>
          <p:cNvSpPr>
            <a:spLocks noGrp="1"/>
          </p:cNvSpPr>
          <p:nvPr>
            <p:ph type="title"/>
          </p:nvPr>
        </p:nvSpPr>
        <p:spPr>
          <a:xfrm>
            <a:off x="839787" y="1359105"/>
            <a:ext cx="3706889" cy="522331"/>
          </a:xfrm>
        </p:spPr>
        <p:txBody>
          <a:bodyPr>
            <a:normAutofit fontScale="90000"/>
          </a:bodyPr>
          <a:lstStyle/>
          <a:p>
            <a:r>
              <a:rPr lang="en-GB" dirty="0"/>
              <a:t>CRUD – Edit Record</a:t>
            </a:r>
          </a:p>
        </p:txBody>
      </p:sp>
      <p:sp>
        <p:nvSpPr>
          <p:cNvPr id="4" name="Text Placeholder 3">
            <a:extLst>
              <a:ext uri="{FF2B5EF4-FFF2-40B4-BE49-F238E27FC236}">
                <a16:creationId xmlns:a16="http://schemas.microsoft.com/office/drawing/2014/main" id="{46D57737-1FAD-EB26-A651-69C381CC3EB5}"/>
              </a:ext>
            </a:extLst>
          </p:cNvPr>
          <p:cNvSpPr>
            <a:spLocks noGrp="1"/>
          </p:cNvSpPr>
          <p:nvPr>
            <p:ph type="body" sz="half" idx="2"/>
          </p:nvPr>
        </p:nvSpPr>
        <p:spPr>
          <a:xfrm>
            <a:off x="839787" y="2005178"/>
            <a:ext cx="3932237" cy="1951892"/>
          </a:xfrm>
        </p:spPr>
        <p:txBody>
          <a:bodyPr>
            <a:noAutofit/>
          </a:bodyPr>
          <a:lstStyle/>
          <a:p>
            <a:r>
              <a:rPr lang="en-GB" b="1" dirty="0"/>
              <a:t>Feature: Edit Record</a:t>
            </a:r>
          </a:p>
          <a:p>
            <a:r>
              <a:rPr lang="en-GB" dirty="0"/>
              <a:t>When the “Edit” button is clicked on any row of the table, the beach data from that row is loaded into the form below the table. The user can change the values of any of the fields and, if the new values meet all the validation, when the user clicks “Update Record” the changes are saved to the database and a message displays in green saying, “Beach record updated successfully.”</a:t>
            </a:r>
          </a:p>
        </p:txBody>
      </p:sp>
      <p:sp>
        <p:nvSpPr>
          <p:cNvPr id="8" name="Text Placeholder 3">
            <a:extLst>
              <a:ext uri="{FF2B5EF4-FFF2-40B4-BE49-F238E27FC236}">
                <a16:creationId xmlns:a16="http://schemas.microsoft.com/office/drawing/2014/main" id="{E915CF33-EFEC-A95E-3E3A-A02A760BC8D0}"/>
              </a:ext>
            </a:extLst>
          </p:cNvPr>
          <p:cNvSpPr txBox="1">
            <a:spLocks/>
          </p:cNvSpPr>
          <p:nvPr/>
        </p:nvSpPr>
        <p:spPr>
          <a:xfrm>
            <a:off x="839787" y="4538950"/>
            <a:ext cx="3932237" cy="1262083"/>
          </a:xfrm>
          <a:prstGeom prst="rect">
            <a:avLst/>
          </a:prstGeom>
        </p:spPr>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1" i="0" u="none" strike="noStrike" kern="1200" cap="none" spc="0" normalizeH="0" baseline="0" noProof="0" dirty="0">
                <a:ln>
                  <a:noFill/>
                </a:ln>
                <a:solidFill>
                  <a:srgbClr val="000000"/>
                </a:solidFill>
                <a:effectLst/>
                <a:uLnTx/>
                <a:uFillTx/>
                <a:latin typeface="Century Schoolbook" panose="02040604050505020304"/>
                <a:ea typeface="+mn-ea"/>
                <a:cs typeface="+mn-cs"/>
              </a:rPr>
              <a:t>File: editDeleteBeach.html</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0" i="0" u="none" strike="noStrike" kern="1200" cap="none" spc="0" normalizeH="0" baseline="0" noProof="0" dirty="0">
                <a:ln>
                  <a:noFill/>
                </a:ln>
                <a:solidFill>
                  <a:srgbClr val="000000"/>
                </a:solidFill>
                <a:effectLst/>
                <a:uLnTx/>
                <a:uFillTx/>
                <a:latin typeface="Century Schoolbook" panose="02040604050505020304"/>
                <a:ea typeface="+mn-ea"/>
                <a:cs typeface="+mn-cs"/>
              </a:rPr>
              <a:t>Uses functions selectBeach(), printTable() and UPDATE SQL via the runQuery() to print the table of records, allow the user to select a record to edit and update the table to display the new changes.</a:t>
            </a:r>
          </a:p>
        </p:txBody>
      </p:sp>
      <p:pic>
        <p:nvPicPr>
          <p:cNvPr id="9" name="Content Placeholder 8">
            <a:extLst>
              <a:ext uri="{FF2B5EF4-FFF2-40B4-BE49-F238E27FC236}">
                <a16:creationId xmlns:a16="http://schemas.microsoft.com/office/drawing/2014/main" id="{58318A58-81E0-AF67-E767-FBFA7B086E24}"/>
              </a:ext>
            </a:extLst>
          </p:cNvPr>
          <p:cNvPicPr>
            <a:picLocks noGrp="1" noChangeAspect="1"/>
          </p:cNvPicPr>
          <p:nvPr>
            <p:ph idx="1"/>
          </p:nvPr>
        </p:nvPicPr>
        <p:blipFill>
          <a:blip r:embed="rId2"/>
          <a:stretch>
            <a:fillRect/>
          </a:stretch>
        </p:blipFill>
        <p:spPr>
          <a:xfrm>
            <a:off x="5804691" y="318019"/>
            <a:ext cx="4243877" cy="6075819"/>
          </a:xfrm>
          <a:prstGeom prst="rect">
            <a:avLst/>
          </a:prstGeom>
          <a:ln w="25400">
            <a:solidFill>
              <a:schemeClr val="tx1"/>
            </a:solidFill>
          </a:ln>
        </p:spPr>
      </p:pic>
      <p:pic>
        <p:nvPicPr>
          <p:cNvPr id="11" name="Picture 10">
            <a:extLst>
              <a:ext uri="{FF2B5EF4-FFF2-40B4-BE49-F238E27FC236}">
                <a16:creationId xmlns:a16="http://schemas.microsoft.com/office/drawing/2014/main" id="{09E5EA5C-840C-E5D4-3FDC-6FCB3084B116}"/>
              </a:ext>
            </a:extLst>
          </p:cNvPr>
          <p:cNvPicPr>
            <a:picLocks noChangeAspect="1"/>
          </p:cNvPicPr>
          <p:nvPr/>
        </p:nvPicPr>
        <p:blipFill>
          <a:blip r:embed="rId3"/>
          <a:stretch>
            <a:fillRect/>
          </a:stretch>
        </p:blipFill>
        <p:spPr>
          <a:xfrm>
            <a:off x="210523" y="5801033"/>
            <a:ext cx="5374200" cy="924071"/>
          </a:xfrm>
          <a:prstGeom prst="rect">
            <a:avLst/>
          </a:prstGeom>
          <a:ln w="25400">
            <a:solidFill>
              <a:schemeClr val="tx1"/>
            </a:solidFill>
          </a:ln>
        </p:spPr>
      </p:pic>
    </p:spTree>
    <p:extLst>
      <p:ext uri="{BB962C8B-B14F-4D97-AF65-F5344CB8AC3E}">
        <p14:creationId xmlns:p14="http://schemas.microsoft.com/office/powerpoint/2010/main" val="33688058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E4395-CC63-84BD-C3D3-69A315955A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B6E8B-1EF3-1980-D986-38D9BAD5BA61}"/>
              </a:ext>
            </a:extLst>
          </p:cNvPr>
          <p:cNvSpPr>
            <a:spLocks noGrp="1"/>
          </p:cNvSpPr>
          <p:nvPr>
            <p:ph type="title"/>
          </p:nvPr>
        </p:nvSpPr>
        <p:spPr>
          <a:xfrm>
            <a:off x="839787" y="1359105"/>
            <a:ext cx="4105839" cy="522331"/>
          </a:xfrm>
        </p:spPr>
        <p:txBody>
          <a:bodyPr>
            <a:normAutofit fontScale="90000"/>
          </a:bodyPr>
          <a:lstStyle/>
          <a:p>
            <a:r>
              <a:rPr lang="en-GB" dirty="0"/>
              <a:t>CRUD – Delete Record</a:t>
            </a:r>
          </a:p>
        </p:txBody>
      </p:sp>
      <p:sp>
        <p:nvSpPr>
          <p:cNvPr id="4" name="Text Placeholder 3">
            <a:extLst>
              <a:ext uri="{FF2B5EF4-FFF2-40B4-BE49-F238E27FC236}">
                <a16:creationId xmlns:a16="http://schemas.microsoft.com/office/drawing/2014/main" id="{46619FEF-8048-75DD-2982-D062E88CC4B5}"/>
              </a:ext>
            </a:extLst>
          </p:cNvPr>
          <p:cNvSpPr>
            <a:spLocks noGrp="1"/>
          </p:cNvSpPr>
          <p:nvPr>
            <p:ph type="body" sz="half" idx="2"/>
          </p:nvPr>
        </p:nvSpPr>
        <p:spPr>
          <a:xfrm>
            <a:off x="839787" y="2124941"/>
            <a:ext cx="3932237" cy="1951892"/>
          </a:xfrm>
        </p:spPr>
        <p:txBody>
          <a:bodyPr>
            <a:noAutofit/>
          </a:bodyPr>
          <a:lstStyle/>
          <a:p>
            <a:r>
              <a:rPr lang="en-GB" b="1" dirty="0"/>
              <a:t>Feature: Delete Record</a:t>
            </a:r>
          </a:p>
          <a:p>
            <a:r>
              <a:rPr lang="en-GB" dirty="0"/>
              <a:t>When the user clicks the “Delete” button for a record a dialog box appears on the browser asking the user to either confirm their choice or cancel it. If the user clicks “OK” a message displays in green saying, “Beach record deleted successfully.”</a:t>
            </a:r>
          </a:p>
        </p:txBody>
      </p:sp>
      <p:sp>
        <p:nvSpPr>
          <p:cNvPr id="8" name="Text Placeholder 3">
            <a:extLst>
              <a:ext uri="{FF2B5EF4-FFF2-40B4-BE49-F238E27FC236}">
                <a16:creationId xmlns:a16="http://schemas.microsoft.com/office/drawing/2014/main" id="{A7946251-710E-6F6D-8541-68D1A442EF00}"/>
              </a:ext>
            </a:extLst>
          </p:cNvPr>
          <p:cNvSpPr txBox="1">
            <a:spLocks/>
          </p:cNvSpPr>
          <p:nvPr/>
        </p:nvSpPr>
        <p:spPr>
          <a:xfrm>
            <a:off x="839787" y="4076833"/>
            <a:ext cx="3932237" cy="1527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1" i="0" u="none" strike="noStrike" kern="1200" cap="none" spc="0" normalizeH="0" baseline="0" noProof="0" dirty="0">
                <a:ln>
                  <a:noFill/>
                </a:ln>
                <a:solidFill>
                  <a:srgbClr val="000000"/>
                </a:solidFill>
                <a:effectLst/>
                <a:uLnTx/>
                <a:uFillTx/>
                <a:latin typeface="Century Schoolbook" panose="02040604050505020304"/>
                <a:ea typeface="+mn-ea"/>
                <a:cs typeface="+mn-cs"/>
              </a:rPr>
              <a:t>File: editDeleteBeach.html</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0" i="0" u="none" strike="noStrike" kern="1200" cap="none" spc="0" normalizeH="0" baseline="0" noProof="0" dirty="0">
                <a:ln>
                  <a:noFill/>
                </a:ln>
                <a:solidFill>
                  <a:srgbClr val="000000"/>
                </a:solidFill>
                <a:effectLst/>
                <a:uLnTx/>
                <a:uFillTx/>
                <a:latin typeface="Century Schoolbook" panose="02040604050505020304"/>
                <a:ea typeface="+mn-ea"/>
                <a:cs typeface="+mn-cs"/>
              </a:rPr>
              <a:t>Uses confirm() before DELETE SQL via the runQuery</a:t>
            </a:r>
            <a:r>
              <a:rPr lang="en-GB" sz="1300" dirty="0">
                <a:solidFill>
                  <a:srgbClr val="000000"/>
                </a:solidFill>
                <a:latin typeface="Century Schoolbook" panose="02040604050505020304"/>
              </a:rPr>
              <a:t>() to ensure the user confirms this choice and has a chance to cancel in case they click accidentally.</a:t>
            </a:r>
            <a:endParaRPr kumimoji="0" lang="en-GB" sz="1300" b="0" i="0" u="none" strike="noStrike" kern="1200" cap="none" spc="0" normalizeH="0" baseline="0" noProof="0" dirty="0">
              <a:ln>
                <a:noFill/>
              </a:ln>
              <a:solidFill>
                <a:srgbClr val="000000"/>
              </a:solidFill>
              <a:effectLst/>
              <a:uLnTx/>
              <a:uFillTx/>
              <a:latin typeface="Century Schoolbook" panose="02040604050505020304"/>
              <a:ea typeface="+mn-ea"/>
              <a:cs typeface="+mn-cs"/>
            </a:endParaRPr>
          </a:p>
        </p:txBody>
      </p:sp>
      <p:pic>
        <p:nvPicPr>
          <p:cNvPr id="11" name="Picture 10">
            <a:extLst>
              <a:ext uri="{FF2B5EF4-FFF2-40B4-BE49-F238E27FC236}">
                <a16:creationId xmlns:a16="http://schemas.microsoft.com/office/drawing/2014/main" id="{6D7073D4-2FEB-8675-A869-FB2267BAD567}"/>
              </a:ext>
            </a:extLst>
          </p:cNvPr>
          <p:cNvPicPr>
            <a:picLocks noChangeAspect="1"/>
          </p:cNvPicPr>
          <p:nvPr/>
        </p:nvPicPr>
        <p:blipFill>
          <a:blip r:embed="rId2"/>
          <a:stretch>
            <a:fillRect/>
          </a:stretch>
        </p:blipFill>
        <p:spPr>
          <a:xfrm>
            <a:off x="5538079" y="263726"/>
            <a:ext cx="4426619" cy="1356544"/>
          </a:xfrm>
          <a:prstGeom prst="rect">
            <a:avLst/>
          </a:prstGeom>
          <a:ln w="25400">
            <a:solidFill>
              <a:schemeClr val="tx1"/>
            </a:solidFill>
          </a:ln>
        </p:spPr>
      </p:pic>
      <p:pic>
        <p:nvPicPr>
          <p:cNvPr id="15" name="Content Placeholder 14">
            <a:extLst>
              <a:ext uri="{FF2B5EF4-FFF2-40B4-BE49-F238E27FC236}">
                <a16:creationId xmlns:a16="http://schemas.microsoft.com/office/drawing/2014/main" id="{26A29B2D-3DEC-53F6-6FCC-B261DB8F209A}"/>
              </a:ext>
            </a:extLst>
          </p:cNvPr>
          <p:cNvPicPr>
            <a:picLocks noGrp="1" noChangeAspect="1"/>
          </p:cNvPicPr>
          <p:nvPr>
            <p:ph idx="1"/>
          </p:nvPr>
        </p:nvPicPr>
        <p:blipFill>
          <a:blip r:embed="rId3"/>
          <a:stretch>
            <a:fillRect/>
          </a:stretch>
        </p:blipFill>
        <p:spPr>
          <a:xfrm>
            <a:off x="5398475" y="1976021"/>
            <a:ext cx="4954894" cy="4447830"/>
          </a:xfrm>
          <a:prstGeom prst="rect">
            <a:avLst/>
          </a:prstGeom>
          <a:ln w="25400">
            <a:solidFill>
              <a:schemeClr val="tx1"/>
            </a:solidFill>
          </a:ln>
        </p:spPr>
      </p:pic>
    </p:spTree>
    <p:extLst>
      <p:ext uri="{BB962C8B-B14F-4D97-AF65-F5344CB8AC3E}">
        <p14:creationId xmlns:p14="http://schemas.microsoft.com/office/powerpoint/2010/main" val="216321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CA0EE-BC88-56AF-7172-CCF00FA25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3E02EF-69AC-A725-E4E4-8C02D466217C}"/>
              </a:ext>
            </a:extLst>
          </p:cNvPr>
          <p:cNvSpPr>
            <a:spLocks noGrp="1"/>
          </p:cNvSpPr>
          <p:nvPr>
            <p:ph type="title"/>
          </p:nvPr>
        </p:nvSpPr>
        <p:spPr>
          <a:xfrm>
            <a:off x="839787" y="1359105"/>
            <a:ext cx="3932237" cy="522331"/>
          </a:xfrm>
        </p:spPr>
        <p:txBody>
          <a:bodyPr>
            <a:normAutofit fontScale="90000"/>
          </a:bodyPr>
          <a:lstStyle/>
          <a:p>
            <a:r>
              <a:rPr lang="en-GB" dirty="0"/>
              <a:t>Dynamic Data – Chart and Tabular Report</a:t>
            </a:r>
          </a:p>
        </p:txBody>
      </p:sp>
      <p:sp>
        <p:nvSpPr>
          <p:cNvPr id="4" name="Text Placeholder 3">
            <a:extLst>
              <a:ext uri="{FF2B5EF4-FFF2-40B4-BE49-F238E27FC236}">
                <a16:creationId xmlns:a16="http://schemas.microsoft.com/office/drawing/2014/main" id="{CF1C99DF-D6CF-1BD5-673E-30EF404E9B98}"/>
              </a:ext>
            </a:extLst>
          </p:cNvPr>
          <p:cNvSpPr>
            <a:spLocks noGrp="1"/>
          </p:cNvSpPr>
          <p:nvPr>
            <p:ph type="body" sz="half" idx="2"/>
          </p:nvPr>
        </p:nvSpPr>
        <p:spPr>
          <a:xfrm>
            <a:off x="839787" y="2124941"/>
            <a:ext cx="3932237" cy="1456459"/>
          </a:xfrm>
        </p:spPr>
        <p:txBody>
          <a:bodyPr>
            <a:normAutofit/>
          </a:bodyPr>
          <a:lstStyle/>
          <a:p>
            <a:r>
              <a:rPr lang="en-GB" b="1" dirty="0"/>
              <a:t>Feature: Live Bar Chart</a:t>
            </a:r>
          </a:p>
          <a:p>
            <a:r>
              <a:rPr lang="en-GB" dirty="0"/>
              <a:t>Chart.js bar chart that shows the total rubbish collected per beach. The data is loaded live from the database using a LEFT JOIN across tblBeach, tblBeachCleanEvent and tblBag.</a:t>
            </a:r>
          </a:p>
        </p:txBody>
      </p:sp>
      <p:sp>
        <p:nvSpPr>
          <p:cNvPr id="8" name="Text Placeholder 3">
            <a:extLst>
              <a:ext uri="{FF2B5EF4-FFF2-40B4-BE49-F238E27FC236}">
                <a16:creationId xmlns:a16="http://schemas.microsoft.com/office/drawing/2014/main" id="{324C6E6B-36EC-C957-745B-97CAB3DAA1E3}"/>
              </a:ext>
            </a:extLst>
          </p:cNvPr>
          <p:cNvSpPr txBox="1">
            <a:spLocks/>
          </p:cNvSpPr>
          <p:nvPr/>
        </p:nvSpPr>
        <p:spPr>
          <a:xfrm>
            <a:off x="839783" y="5177318"/>
            <a:ext cx="3932237" cy="1527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1" i="0" u="none" strike="noStrike" kern="1200" cap="none" spc="0" normalizeH="0" baseline="0" noProof="0" dirty="0">
                <a:ln>
                  <a:noFill/>
                </a:ln>
                <a:solidFill>
                  <a:srgbClr val="000000"/>
                </a:solidFill>
                <a:effectLst/>
                <a:uLnTx/>
                <a:uFillTx/>
                <a:latin typeface="Century Schoolbook" panose="02040604050505020304"/>
                <a:ea typeface="+mn-ea"/>
                <a:cs typeface="+mn-cs"/>
              </a:rPr>
              <a:t>File: chart.html</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0" i="0" u="none" strike="noStrike" kern="1200" cap="none" spc="0" normalizeH="0" baseline="0" noProof="0" dirty="0">
                <a:ln>
                  <a:noFill/>
                </a:ln>
                <a:solidFill>
                  <a:srgbClr val="000000"/>
                </a:solidFill>
                <a:effectLst/>
                <a:uLnTx/>
                <a:uFillTx/>
                <a:latin typeface="Century Schoolbook" panose="02040604050505020304"/>
                <a:ea typeface="+mn-ea"/>
                <a:cs typeface="+mn-cs"/>
              </a:rPr>
              <a:t>Uses printChart() and printTable() to print both to the page upon loading.</a:t>
            </a:r>
          </a:p>
        </p:txBody>
      </p:sp>
      <p:pic>
        <p:nvPicPr>
          <p:cNvPr id="9" name="Content Placeholder 8">
            <a:extLst>
              <a:ext uri="{FF2B5EF4-FFF2-40B4-BE49-F238E27FC236}">
                <a16:creationId xmlns:a16="http://schemas.microsoft.com/office/drawing/2014/main" id="{2CD1383B-1358-F702-5CC0-83FDBBFBD5F6}"/>
              </a:ext>
            </a:extLst>
          </p:cNvPr>
          <p:cNvPicPr>
            <a:picLocks noGrp="1" noChangeAspect="1"/>
          </p:cNvPicPr>
          <p:nvPr>
            <p:ph idx="1"/>
          </p:nvPr>
        </p:nvPicPr>
        <p:blipFill>
          <a:blip r:embed="rId2"/>
          <a:stretch>
            <a:fillRect/>
          </a:stretch>
        </p:blipFill>
        <p:spPr>
          <a:xfrm>
            <a:off x="5333966" y="250467"/>
            <a:ext cx="5294023" cy="4150657"/>
          </a:xfrm>
          <a:prstGeom prst="rect">
            <a:avLst/>
          </a:prstGeom>
          <a:ln w="25400">
            <a:solidFill>
              <a:schemeClr val="tx1"/>
            </a:solidFill>
          </a:ln>
        </p:spPr>
      </p:pic>
      <p:sp>
        <p:nvSpPr>
          <p:cNvPr id="11" name="AutoShape 4">
            <a:extLst>
              <a:ext uri="{FF2B5EF4-FFF2-40B4-BE49-F238E27FC236}">
                <a16:creationId xmlns:a16="http://schemas.microsoft.com/office/drawing/2014/main" id="{27C2B632-B6DB-AAD8-D2D6-8490E66159CB}"/>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dirty="0"/>
          </a:p>
        </p:txBody>
      </p:sp>
      <p:pic>
        <p:nvPicPr>
          <p:cNvPr id="14" name="Picture 13">
            <a:extLst>
              <a:ext uri="{FF2B5EF4-FFF2-40B4-BE49-F238E27FC236}">
                <a16:creationId xmlns:a16="http://schemas.microsoft.com/office/drawing/2014/main" id="{FAEB2895-D6F9-1237-C508-117F6B50323E}"/>
              </a:ext>
            </a:extLst>
          </p:cNvPr>
          <p:cNvPicPr>
            <a:picLocks noChangeAspect="1"/>
          </p:cNvPicPr>
          <p:nvPr/>
        </p:nvPicPr>
        <p:blipFill>
          <a:blip r:embed="rId3"/>
          <a:stretch>
            <a:fillRect/>
          </a:stretch>
        </p:blipFill>
        <p:spPr>
          <a:xfrm>
            <a:off x="4998164" y="4532204"/>
            <a:ext cx="5965629" cy="2143258"/>
          </a:xfrm>
          <a:prstGeom prst="rect">
            <a:avLst/>
          </a:prstGeom>
          <a:ln w="25400">
            <a:solidFill>
              <a:schemeClr val="tx1"/>
            </a:solidFill>
          </a:ln>
        </p:spPr>
      </p:pic>
      <p:sp>
        <p:nvSpPr>
          <p:cNvPr id="16" name="Text Placeholder 3">
            <a:extLst>
              <a:ext uri="{FF2B5EF4-FFF2-40B4-BE49-F238E27FC236}">
                <a16:creationId xmlns:a16="http://schemas.microsoft.com/office/drawing/2014/main" id="{4AEE7F37-4D1E-512B-074C-F8446C1DDA0B}"/>
              </a:ext>
            </a:extLst>
          </p:cNvPr>
          <p:cNvSpPr txBox="1">
            <a:spLocks/>
          </p:cNvSpPr>
          <p:nvPr/>
        </p:nvSpPr>
        <p:spPr>
          <a:xfrm>
            <a:off x="839785" y="3581400"/>
            <a:ext cx="3932237" cy="1527000"/>
          </a:xfrm>
          <a:prstGeom prst="rect">
            <a:avLst/>
          </a:prstGeom>
        </p:spPr>
        <p:txBody>
          <a:bodyPr vert="horz" lIns="91440" tIns="45720" rIns="91440" bIns="45720" rtlCol="0">
            <a:normAutofit lnSpcReduction="10000"/>
          </a:bodyPr>
          <a:lstStyle>
            <a:lvl1pPr marL="0" indent="0" algn="l" defTabSz="914400" rtl="0" eaLnBrk="1" latinLnBrk="0" hangingPunct="1">
              <a:lnSpc>
                <a:spcPct val="114000"/>
              </a:lnSpc>
              <a:spcBef>
                <a:spcPts val="800"/>
              </a:spcBef>
              <a:spcAft>
                <a:spcPts val="200"/>
              </a:spcAft>
              <a:buClr>
                <a:schemeClr val="accent1"/>
              </a:buClr>
              <a:buSzPct val="80000"/>
              <a:buFont typeface="Arial" pitchFamily="34" charset="0"/>
              <a:buNone/>
              <a:defRPr sz="1300" kern="1200" spc="10" baseline="0">
                <a:solidFill>
                  <a:schemeClr val="tx1"/>
                </a:solidFill>
                <a:latin typeface="+mn-lt"/>
                <a:ea typeface="+mn-ea"/>
                <a:cs typeface="+mn-cs"/>
              </a:defRPr>
            </a:lvl1pPr>
            <a:lvl2pPr marL="457200" indent="0" algn="l" defTabSz="914400" rtl="0" eaLnBrk="1" latinLnBrk="0" hangingPunct="1">
              <a:lnSpc>
                <a:spcPct val="90000"/>
              </a:lnSpc>
              <a:spcBef>
                <a:spcPts val="300"/>
              </a:spcBef>
              <a:spcAft>
                <a:spcPts val="300"/>
              </a:spcAft>
              <a:buClr>
                <a:schemeClr val="accent1"/>
              </a:buClr>
              <a:buFont typeface="Wingdings 2" pitchFamily="18" charset="2"/>
              <a:buNone/>
              <a:defRPr sz="1200" kern="1200">
                <a:solidFill>
                  <a:schemeClr val="tx1">
                    <a:lumMod val="85000"/>
                    <a:lumOff val="15000"/>
                  </a:schemeClr>
                </a:solidFill>
                <a:latin typeface="+mn-lt"/>
                <a:ea typeface="+mn-ea"/>
                <a:cs typeface="+mn-cs"/>
              </a:defRPr>
            </a:lvl2pPr>
            <a:lvl3pPr marL="914400" indent="0" algn="l" defTabSz="914400" rtl="0" eaLnBrk="1" latinLnBrk="0" hangingPunct="1">
              <a:lnSpc>
                <a:spcPct val="90000"/>
              </a:lnSpc>
              <a:spcBef>
                <a:spcPts val="300"/>
              </a:spcBef>
              <a:spcAft>
                <a:spcPts val="300"/>
              </a:spcAft>
              <a:buClr>
                <a:schemeClr val="accent1"/>
              </a:buClr>
              <a:buFont typeface="Wingdings 2" pitchFamily="18" charset="2"/>
              <a:buNone/>
              <a:defRPr sz="1000" kern="1200">
                <a:solidFill>
                  <a:schemeClr val="tx1">
                    <a:lumMod val="85000"/>
                    <a:lumOff val="15000"/>
                  </a:schemeClr>
                </a:solidFill>
                <a:latin typeface="+mn-lt"/>
                <a:ea typeface="+mn-ea"/>
                <a:cs typeface="+mn-cs"/>
              </a:defRPr>
            </a:lvl3pPr>
            <a:lvl4pPr marL="1371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4pPr>
            <a:lvl5pPr marL="18288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5pPr>
            <a:lvl6pPr marL="22860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6pPr>
            <a:lvl7pPr marL="27432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7pPr>
            <a:lvl8pPr marL="32004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8pPr>
            <a:lvl9pPr marL="3657600" indent="0" algn="l" defTabSz="914400" rtl="0" eaLnBrk="1" latinLnBrk="0" hangingPunct="1">
              <a:lnSpc>
                <a:spcPct val="90000"/>
              </a:lnSpc>
              <a:spcBef>
                <a:spcPts val="300"/>
              </a:spcBef>
              <a:spcAft>
                <a:spcPts val="300"/>
              </a:spcAft>
              <a:buClr>
                <a:schemeClr val="accent1"/>
              </a:buClr>
              <a:buFont typeface="Wingdings 2" pitchFamily="18" charset="2"/>
              <a:buNone/>
              <a:defRPr sz="900" kern="1200">
                <a:solidFill>
                  <a:schemeClr val="tx1">
                    <a:lumMod val="85000"/>
                    <a:lumOff val="15000"/>
                  </a:schemeClr>
                </a:solidFill>
                <a:latin typeface="+mn-lt"/>
                <a:ea typeface="+mn-ea"/>
                <a:cs typeface="+mn-cs"/>
              </a:defRPr>
            </a:lvl9pPr>
          </a:lstStyle>
          <a:p>
            <a:r>
              <a:rPr lang="en-GB" b="1" dirty="0"/>
              <a:t>Feature: Tabular Report</a:t>
            </a:r>
          </a:p>
          <a:p>
            <a:r>
              <a:rPr lang="en-GB" dirty="0"/>
              <a:t>A table showing the Beach Name, Town, Type and Total Rubbish (kg). This data is also loaded live from the database, both the chart and table are shown on the same page, loaded simultaneously.</a:t>
            </a:r>
          </a:p>
        </p:txBody>
      </p:sp>
    </p:spTree>
    <p:extLst>
      <p:ext uri="{BB962C8B-B14F-4D97-AF65-F5344CB8AC3E}">
        <p14:creationId xmlns:p14="http://schemas.microsoft.com/office/powerpoint/2010/main" val="3365433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01791-3875-C296-03C2-95DE94134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561CB-89F0-9AB8-D07B-13897F9742DF}"/>
              </a:ext>
            </a:extLst>
          </p:cNvPr>
          <p:cNvSpPr>
            <a:spLocks noGrp="1"/>
          </p:cNvSpPr>
          <p:nvPr>
            <p:ph type="title"/>
          </p:nvPr>
        </p:nvSpPr>
        <p:spPr>
          <a:xfrm>
            <a:off x="839787" y="1359105"/>
            <a:ext cx="4105839" cy="522331"/>
          </a:xfrm>
        </p:spPr>
        <p:txBody>
          <a:bodyPr>
            <a:normAutofit fontScale="90000"/>
          </a:bodyPr>
          <a:lstStyle/>
          <a:p>
            <a:r>
              <a:rPr lang="en-GB" dirty="0"/>
              <a:t>Parameterised Chart</a:t>
            </a:r>
          </a:p>
        </p:txBody>
      </p:sp>
      <p:sp>
        <p:nvSpPr>
          <p:cNvPr id="4" name="Text Placeholder 3">
            <a:extLst>
              <a:ext uri="{FF2B5EF4-FFF2-40B4-BE49-F238E27FC236}">
                <a16:creationId xmlns:a16="http://schemas.microsoft.com/office/drawing/2014/main" id="{2B90DA44-B09D-58B9-6FB2-F3A9D69CD418}"/>
              </a:ext>
            </a:extLst>
          </p:cNvPr>
          <p:cNvSpPr>
            <a:spLocks noGrp="1"/>
          </p:cNvSpPr>
          <p:nvPr>
            <p:ph type="body" sz="half" idx="2"/>
          </p:nvPr>
        </p:nvSpPr>
        <p:spPr>
          <a:xfrm>
            <a:off x="839787" y="2124941"/>
            <a:ext cx="3932237" cy="1951892"/>
          </a:xfrm>
        </p:spPr>
        <p:txBody>
          <a:bodyPr>
            <a:noAutofit/>
          </a:bodyPr>
          <a:lstStyle/>
          <a:p>
            <a:r>
              <a:rPr lang="en-GB" b="1" dirty="0"/>
              <a:t>Feature: Parameterised Chart</a:t>
            </a:r>
          </a:p>
          <a:p>
            <a:r>
              <a:rPr lang="en-GB" dirty="0"/>
              <a:t>User selects a beach type (Sand/Shingle/Unknown) from a dropdown menu and clicks the “Show Chart” button. The chart will update to only show the beaches that match the chosen filter.</a:t>
            </a:r>
          </a:p>
        </p:txBody>
      </p:sp>
      <p:sp>
        <p:nvSpPr>
          <p:cNvPr id="8" name="Text Placeholder 3">
            <a:extLst>
              <a:ext uri="{FF2B5EF4-FFF2-40B4-BE49-F238E27FC236}">
                <a16:creationId xmlns:a16="http://schemas.microsoft.com/office/drawing/2014/main" id="{A889B6A5-5F66-0474-4B1F-9169C34B27B8}"/>
              </a:ext>
            </a:extLst>
          </p:cNvPr>
          <p:cNvSpPr txBox="1">
            <a:spLocks/>
          </p:cNvSpPr>
          <p:nvPr/>
        </p:nvSpPr>
        <p:spPr>
          <a:xfrm>
            <a:off x="839787" y="4076833"/>
            <a:ext cx="3932237" cy="152700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1" i="0" u="none" strike="noStrike" kern="1200" cap="none" spc="0" normalizeH="0" baseline="0" noProof="0" dirty="0">
                <a:ln>
                  <a:noFill/>
                </a:ln>
                <a:solidFill>
                  <a:srgbClr val="000000"/>
                </a:solidFill>
                <a:effectLst/>
                <a:uLnTx/>
                <a:uFillTx/>
                <a:latin typeface="Century Schoolbook" panose="02040604050505020304"/>
                <a:ea typeface="+mn-ea"/>
                <a:cs typeface="+mn-cs"/>
              </a:rPr>
              <a:t>File: paramChart.html</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300" b="0" i="0" u="none" strike="noStrike" kern="1200" cap="none" spc="0" normalizeH="0" baseline="0" noProof="0" dirty="0">
                <a:ln>
                  <a:noFill/>
                </a:ln>
                <a:solidFill>
                  <a:srgbClr val="000000"/>
                </a:solidFill>
                <a:effectLst/>
                <a:uLnTx/>
                <a:uFillTx/>
                <a:latin typeface="Century Schoolbook" panose="02040604050505020304"/>
                <a:ea typeface="+mn-ea"/>
                <a:cs typeface="+mn-cs"/>
              </a:rPr>
              <a:t>Uses a WHERE clause to filter the chart by the Beach Type parameter.</a:t>
            </a:r>
          </a:p>
        </p:txBody>
      </p:sp>
      <p:pic>
        <p:nvPicPr>
          <p:cNvPr id="7" name="Content Placeholder 6">
            <a:extLst>
              <a:ext uri="{FF2B5EF4-FFF2-40B4-BE49-F238E27FC236}">
                <a16:creationId xmlns:a16="http://schemas.microsoft.com/office/drawing/2014/main" id="{6820BBC5-D4DB-65AE-A827-3CDD727A2577}"/>
              </a:ext>
            </a:extLst>
          </p:cNvPr>
          <p:cNvPicPr>
            <a:picLocks noGrp="1" noChangeAspect="1"/>
          </p:cNvPicPr>
          <p:nvPr>
            <p:ph idx="1"/>
          </p:nvPr>
        </p:nvPicPr>
        <p:blipFill>
          <a:blip r:embed="rId2"/>
          <a:stretch>
            <a:fillRect/>
          </a:stretch>
        </p:blipFill>
        <p:spPr>
          <a:xfrm>
            <a:off x="4945626" y="749966"/>
            <a:ext cx="6080125" cy="5358067"/>
          </a:xfrm>
          <a:prstGeom prst="rect">
            <a:avLst/>
          </a:prstGeom>
        </p:spPr>
      </p:pic>
    </p:spTree>
    <p:extLst>
      <p:ext uri="{BB962C8B-B14F-4D97-AF65-F5344CB8AC3E}">
        <p14:creationId xmlns:p14="http://schemas.microsoft.com/office/powerpoint/2010/main" val="331615313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TM03457515[[fn=View]]</Template>
  <TotalTime>1553</TotalTime>
  <Words>565</Words>
  <Application>Microsoft Office PowerPoint</Application>
  <PresentationFormat>Widescreen</PresentationFormat>
  <Paragraphs>36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Schoolbook</vt:lpstr>
      <vt:lpstr>Wingdings 2</vt:lpstr>
      <vt:lpstr>View</vt:lpstr>
      <vt:lpstr>Beach Cleaners – Ards &amp; North Down  </vt:lpstr>
      <vt:lpstr>Client-Side Validation</vt:lpstr>
      <vt:lpstr>User Feedback</vt:lpstr>
      <vt:lpstr>CRUD – Edit Record</vt:lpstr>
      <vt:lpstr>CRUD – Delete Record</vt:lpstr>
      <vt:lpstr>Dynamic Data – Chart and Tabular Report</vt:lpstr>
      <vt:lpstr>Parameterised Chart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Caolan Logue</dc:creator>
  <cp:lastModifiedBy>Caolan Logue</cp:lastModifiedBy>
  <cp:revision>2</cp:revision>
  <dcterms:created xsi:type="dcterms:W3CDTF">2026-04-22T18:29:31Z</dcterms:created>
  <dcterms:modified xsi:type="dcterms:W3CDTF">2026-04-23T20:23:25Z</dcterms:modified>
</cp:coreProperties>
</file>